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60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4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2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71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687" y="5135909"/>
            <a:ext cx="7286625" cy="13181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237" y="404068"/>
            <a:ext cx="1533525" cy="1238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500" y="1880443"/>
            <a:ext cx="4191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3A8A"/>
                </a:solidFill>
                <a:latin typeface="Lato SemiBold"/>
              </a:rPr>
              <a:t>IILM UNIVERSITY, GREATER NOIDA, U.P.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2937" y="2185243"/>
            <a:ext cx="32861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Lato Medium"/>
              </a:rPr>
              <a:t>School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4825" y="2680543"/>
            <a:ext cx="3562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B82F6"/>
                </a:solidFill>
                <a:latin typeface="Poppins SemiBold"/>
              </a:rPr>
              <a:t>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0771" y="3032968"/>
            <a:ext cx="3650456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0F172A"/>
                </a:solidFill>
                <a:latin typeface="Poppins"/>
              </a:rPr>
              <a:t>Ambrosia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2687" y="4168229"/>
            <a:ext cx="7286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334155"/>
                </a:solidFill>
                <a:latin typeface="Lato Medium"/>
              </a:rPr>
              <a:t>A B2B Canteen &amp; Food Ordering Platform for Industrial Workforces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687" y="5393084"/>
            <a:ext cx="2476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Submitted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2687" y="5743575"/>
            <a:ext cx="2476500" cy="28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RAGHVENDRA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2687" y="6103590"/>
            <a:ext cx="2476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Roll Number: 25SCS1003003959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2387" y="5393084"/>
            <a:ext cx="20669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Programme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2387" y="5743575"/>
            <a:ext cx="2066925" cy="248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sz="1350" b="1" i="0" u="none" dirty="0" err="1">
                <a:solidFill>
                  <a:srgbClr val="0F172A"/>
                </a:solidFill>
                <a:latin typeface="Lato"/>
              </a:rPr>
              <a:t>B.Tech</a:t>
            </a:r>
            <a:r>
              <a:rPr sz="1350" b="1" i="0" u="none" dirty="0">
                <a:solidFill>
                  <a:srgbClr val="0F172A"/>
                </a:solidFill>
                <a:latin typeface="Lato"/>
              </a:rPr>
              <a:t> CSE</a:t>
            </a:r>
            <a:r>
              <a:rPr lang="en-IN" sz="1350" b="1" i="0" u="none" dirty="0">
                <a:solidFill>
                  <a:srgbClr val="0F172A"/>
                </a:solidFill>
                <a:latin typeface="Lato"/>
              </a:rPr>
              <a:t>-core</a:t>
            </a:r>
            <a:endParaRPr sz="1350" b="1" i="0" u="none" dirty="0">
              <a:solidFill>
                <a:srgbClr val="0F172A"/>
              </a:solidFill>
              <a:latin typeface="Lat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72387" y="6094065"/>
            <a:ext cx="2476500" cy="248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Lato"/>
              </a:rPr>
              <a:t>Batch: 2025-2029 | 2026-27</a:t>
            </a:r>
          </a:p>
        </p:txBody>
      </p:sp>
      <p:pic>
        <p:nvPicPr>
          <p:cNvPr id="17" name="Picture 16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980DD6A4-55CB-6FB8-EDF3-BC3964A61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164" y="200891"/>
            <a:ext cx="1778145" cy="158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09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158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19287"/>
            <a:ext cx="523875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814661"/>
            <a:ext cx="238125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9675" y="1786086"/>
            <a:ext cx="1571625" cy="487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>
                <a:solidFill>
                  <a:srgbClr val="0F172A"/>
                </a:solidFill>
                <a:latin typeface="Lato"/>
              </a:rPr>
              <a:t>Candidate Name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Raghvendra Kumar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763291"/>
            <a:ext cx="23812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9675" y="2734716"/>
            <a:ext cx="1699780" cy="487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 dirty="0">
                <a:solidFill>
                  <a:srgbClr val="0F172A"/>
                </a:solidFill>
                <a:latin typeface="Lato"/>
              </a:rPr>
              <a:t>Roll Number</a:t>
            </a:r>
            <a:r>
              <a:rPr sz="1425" b="0" i="0" u="none" dirty="0">
                <a:solidFill>
                  <a:srgbClr val="475569"/>
                </a:solidFill>
                <a:latin typeface="Lato"/>
              </a:rPr>
              <a:t> 25SCS1003003</a:t>
            </a:r>
            <a:r>
              <a:rPr lang="en-IN" sz="1425" b="0" i="0" u="none" dirty="0">
                <a:solidFill>
                  <a:srgbClr val="475569"/>
                </a:solidFill>
                <a:latin typeface="Lato"/>
              </a:rPr>
              <a:t>9</a:t>
            </a:r>
            <a:r>
              <a:rPr sz="1425" b="0" i="0" u="none" dirty="0">
                <a:solidFill>
                  <a:srgbClr val="475569"/>
                </a:solidFill>
                <a:latin typeface="Lato"/>
              </a:rPr>
              <a:t>59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711922"/>
            <a:ext cx="23812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9675" y="3683347"/>
            <a:ext cx="2428875" cy="487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>
                <a:solidFill>
                  <a:srgbClr val="0F172A"/>
                </a:solidFill>
                <a:latin typeface="Lato"/>
              </a:rPr>
              <a:t>Programme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B.Tech CSE (Batch 2025-2029)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660552"/>
            <a:ext cx="23812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9675" y="4631977"/>
            <a:ext cx="2028825" cy="744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>
                <a:solidFill>
                  <a:srgbClr val="0F172A"/>
                </a:solidFill>
                <a:latin typeface="Lato"/>
              </a:rPr>
              <a:t>Internship Role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Developer Team Member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5609183"/>
            <a:ext cx="2381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9675" y="5580608"/>
            <a:ext cx="2190750" cy="487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>
                <a:solidFill>
                  <a:srgbClr val="0F172A"/>
                </a:solidFill>
                <a:latin typeface="Lato"/>
              </a:rPr>
              <a:t>Duration</a:t>
            </a:r>
            <a:r>
              <a:rPr sz="1425" b="0" i="0" u="none">
                <a:solidFill>
                  <a:srgbClr val="475569"/>
                </a:solidFill>
                <a:latin typeface="Lato"/>
              </a:rPr>
              <a:t> 26/05/2026 to 25/07/2026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About the Student</a:t>
            </a:r>
          </a:p>
        </p:txBody>
      </p:sp>
      <p:pic>
        <p:nvPicPr>
          <p:cNvPr id="21" name="Picture 20" descr="A modern office setup featuring a laptop, multiple monitors, and a pair of headphones, all under the 'Ambrosia' brand.&#10;&#10;AI-generated content may be incorrect.">
            <a:extLst>
              <a:ext uri="{FF2B5EF4-FFF2-40B4-BE49-F238E27FC236}">
                <a16:creationId xmlns:a16="http://schemas.microsoft.com/office/drawing/2014/main" id="{29B6A1BD-BBA6-4469-314D-8AD2C216D4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1863164"/>
            <a:ext cx="5269748" cy="3618354"/>
          </a:xfrm>
          <a:prstGeom prst="rect">
            <a:avLst/>
          </a:prstGeom>
        </p:spPr>
      </p:pic>
      <p:pic>
        <p:nvPicPr>
          <p:cNvPr id="23" name="Picture 22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C9BB6EE6-D89F-4376-207E-20669E6303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9968" y="189631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6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1162"/>
            <a:ext cx="3429000" cy="447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681162"/>
            <a:ext cx="3429000" cy="447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81162"/>
            <a:ext cx="3429000" cy="447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071687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2976562"/>
            <a:ext cx="187023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The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490912"/>
            <a:ext cx="26479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Lobra Hansetu Private Limited (Hansetu)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Located in Karnal, Haryana, the company focuses on digital transformation and innovative B2B solutions.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2071687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72025" y="2976562"/>
            <a:ext cx="252031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Nature of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2025" y="3490912"/>
            <a:ext cx="26479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B2B Platforms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Specializing in the development of comprehensive B2B industrial platforms and mobile applications tailored for business clients.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025" y="2071687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82025" y="2976562"/>
            <a:ext cx="104013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My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2025" y="3490912"/>
            <a:ext cx="26479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Developer Team Member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Responsible for front-end implementation in Flutter, system support, and team coordination to build platform functionalities.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287" y="2224087"/>
            <a:ext cx="276225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612" y="2224087"/>
            <a:ext cx="409575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8237" y="2224087"/>
            <a:ext cx="314325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Organization Profile</a:t>
            </a:r>
          </a:p>
        </p:txBody>
      </p: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2B71AA51-DA9B-08E7-BA20-145DADD3E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2182" y="104775"/>
            <a:ext cx="819150" cy="619125"/>
          </a:xfrm>
          <a:prstGeom prst="rect">
            <a:avLst/>
          </a:prstGeom>
        </p:spPr>
      </p:pic>
      <p:pic>
        <p:nvPicPr>
          <p:cNvPr id="25" name="Picture 24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8107C5E8-0A53-27C5-C1DF-772BEF31E6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9968" y="189631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35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The Problem Statement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52575"/>
            <a:ext cx="5238750" cy="1350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Manual Inefficiencies</a:t>
            </a:r>
            <a:r>
              <a:t>
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Industrial units and factory campuses typically manage staff canteen operations manually using paper tokens and verbal orders.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40868"/>
            <a:ext cx="5238750" cy="1350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Operational Bottlenecks</a:t>
            </a:r>
            <a:r>
              <a:t>
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This outdated approach leads to long queues, order errors, and a complete lack of visibility into daily demand for the vendor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29162"/>
            <a:ext cx="5238750" cy="1685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The Need</a:t>
            </a:r>
            <a:r>
              <a:t>
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As part of Hansetu's B2B offerings, there was a pressing need for a lightweight, digitized ordering module for industrial workforces without adding unnecessary complexity.</a:t>
            </a:r>
          </a:p>
        </p:txBody>
      </p:sp>
      <p:pic>
        <p:nvPicPr>
          <p:cNvPr id="10" name="Picture 9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9B0793F0-1DE0-87DC-41C7-8542DC056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17" y="154993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15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8750" y="1409402"/>
            <a:ext cx="990600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Cross-Platform Design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Design and develop the Ambrosia B2B canteen ordering application using Flutter for cross-platform compatibility.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8750" y="2748260"/>
            <a:ext cx="9906000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Real-Time Backend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Integrate a real-time backend using Firebase for secure user authentication and seamless data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50" y="3751957"/>
            <a:ext cx="990600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Complete Ordering Flow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Implement a comprehensive user journey for industrial staff: browsing menus, managing the cart, and placing orders.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5090814"/>
            <a:ext cx="990600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Vendor Visibility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Provide the canteen/vendor side with real-time tracking of incoming orders through the unified Firebase backend.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433214"/>
            <a:ext cx="20002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72072"/>
            <a:ext cx="23812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775769"/>
            <a:ext cx="3048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5114627"/>
            <a:ext cx="2667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28327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Project Objectives (Ambrosia)</a:t>
            </a:r>
          </a:p>
        </p:txBody>
      </p:sp>
      <p:pic>
        <p:nvPicPr>
          <p:cNvPr id="14" name="Picture 13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1E0A4925-8750-E7E2-7021-BD6B8C0EB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9968" y="179958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5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1162"/>
            <a:ext cx="3429000" cy="447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681162"/>
            <a:ext cx="3429000" cy="447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81162"/>
            <a:ext cx="3429000" cy="447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071687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2976562"/>
            <a:ext cx="278034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Frontend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490912"/>
            <a:ext cx="26479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Flutter (Dart)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Utilized to build a responsive, single-codebase client application that runs smoothly on both Android and iOS devices.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2071687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72025" y="2976562"/>
            <a:ext cx="234029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Backend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2025" y="3490912"/>
            <a:ext cx="26479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Firebase Ecosystem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Firebase Authentication, Cloud Firestore, and Storage powered the serverless, real-time database and user management.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025" y="2071687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82025" y="2976562"/>
            <a:ext cx="2690336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Tools &amp; Integrations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2025" y="3490912"/>
            <a:ext cx="26479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Version Control &amp; APIs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Git &amp; GitHub for version control, with planned future integrations for Google Places API and Razorpay Payment Gateway.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237" y="2224087"/>
            <a:ext cx="314325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4425" y="2224087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8237" y="2224087"/>
            <a:ext cx="314325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2025" y="271462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Technologies &amp; Tools Used</a:t>
            </a:r>
          </a:p>
        </p:txBody>
      </p:sp>
      <p:pic>
        <p:nvPicPr>
          <p:cNvPr id="21" name="Picture 20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89E8A769-BB04-4DD5-9FA9-9F38C67FB2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72361" y="250676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2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33537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190625"/>
            <a:ext cx="550068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3A8A"/>
                </a:solidFill>
                <a:latin typeface="Poppins SemiBold"/>
              </a:rPr>
              <a:t>Client-Backend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04975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Ambrosia follows a streamlined serverless architecture tailored for B2B industrial deployments.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895975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3B82F6"/>
                </a:solidFill>
                <a:latin typeface="Lato Medium"/>
              </a:rPr>
              <a:t>Direct client-to-Firebase communication eliminates the need for a custom backend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26479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647950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Client Layer: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Flutter application handles UI and interactions for industrial employees.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4004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400425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Authentication: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Firebase Auth secures user sign-in processes.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41529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152900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Data Layer: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Cloud Firestore stores menu items and order details, instantly notifying staff of new orders.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49053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905375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Storage: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Firebase Storage manages image assets like menu photos.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671637"/>
            <a:ext cx="5162550" cy="449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20955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System Architecture</a:t>
            </a:r>
          </a:p>
        </p:txBody>
      </p:sp>
      <p:pic>
        <p:nvPicPr>
          <p:cNvPr id="19" name="Picture 18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8CA82C3C-E551-2FC6-F079-B65A8B5FD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7899" y="203051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54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00537"/>
            <a:ext cx="2541240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1614487"/>
            <a:ext cx="2541240" cy="1924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300537"/>
            <a:ext cx="2541240" cy="1924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1928812"/>
            <a:ext cx="2541240" cy="16097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004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988" y="4548187"/>
            <a:ext cx="234826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3A8A"/>
                </a:solidFill>
                <a:latin typeface="Poppins SemiBold"/>
              </a:rPr>
              <a:t>1. Requirement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5291137"/>
            <a:ext cx="2236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Identifying core features for the Ambrosia B2B canteen ordering module.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3908" y="1862137"/>
            <a:ext cx="234826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3A8A"/>
                </a:solidFill>
                <a:latin typeface="Poppins SemiBold"/>
              </a:rPr>
              <a:t>2. UI/UX &amp; Flutter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9819" y="2605087"/>
            <a:ext cx="2236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Designing user flows and building core screens (browse, cart, checkout) in Flutter.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828" y="4548187"/>
            <a:ext cx="234826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3A8A"/>
                </a:solidFill>
                <a:latin typeface="Poppins SemiBold"/>
              </a:rPr>
              <a:t>3. Firebase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5739" y="5291137"/>
            <a:ext cx="2236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Setting up auth, Firestore collections, and storage for real-time data sync.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5748" y="2176462"/>
            <a:ext cx="234826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3A8A"/>
                </a:solidFill>
                <a:latin typeface="Poppins SemiBold"/>
              </a:rPr>
              <a:t>4. Testing &amp;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1659" y="2605087"/>
            <a:ext cx="2236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Verifying the ordering flow end-to-end and preparing the release APK for GitHub.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8770" y="37861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44690" y="37861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80609" y="37861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529" y="37861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Development Methodology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609" y="464344"/>
            <a:ext cx="819150" cy="619125"/>
          </a:xfrm>
          <a:prstGeom prst="rect">
            <a:avLst/>
          </a:prstGeom>
        </p:spPr>
      </p:pic>
      <p:pic>
        <p:nvPicPr>
          <p:cNvPr id="23" name="Picture 22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568985BB-82C9-36AA-26A6-18904F800C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72996" y="165819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5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5957"/>
            <a:ext cx="336545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1465957"/>
            <a:ext cx="3365450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4900" y="1465957"/>
            <a:ext cx="336545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1125" y="5895082"/>
            <a:ext cx="2686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0F172A"/>
                </a:solidFill>
                <a:latin typeface="Poppins SemiBold"/>
              </a:rPr>
              <a:t>Browsing Canteen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4263" y="5895082"/>
            <a:ext cx="25431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0F172A"/>
                </a:solidFill>
                <a:latin typeface="Poppins SemiBold"/>
              </a:rPr>
              <a:t>Order Summary &amp; Cart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99276" y="5895082"/>
            <a:ext cx="28765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0F172A"/>
                </a:solidFill>
                <a:latin typeface="Poppins SemiBold"/>
              </a:rPr>
              <a:t>Real-Time Order Tracking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1523107"/>
            <a:ext cx="3251150" cy="407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350" y="1523107"/>
            <a:ext cx="3251150" cy="407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1523107"/>
            <a:ext cx="3251150" cy="407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84882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Ambrosia Application Screens</a:t>
            </a:r>
          </a:p>
        </p:txBody>
      </p:sp>
      <p:pic>
        <p:nvPicPr>
          <p:cNvPr id="15" name="Picture 14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5DA8A390-D02A-0678-A05B-AB6AE7CC69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59018" y="154993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71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8750" y="1409402"/>
            <a:ext cx="990600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Functional Deployment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Delivered Ambrosia, a fully working B2B canteen ordering mobile application with a complete, user-friendly ordering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8750" y="2748260"/>
            <a:ext cx="9906000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Technical Proficiency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Gained extensive hands-on experience using Flutter for cross-platform mobile development (Android &amp; iOS).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50" y="3751957"/>
            <a:ext cx="990600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Backend Mastery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Developed a practical understanding of integrating a scalable, serverless backend (Firebase) directly into a mobile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5090814"/>
            <a:ext cx="9906000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Production Delivery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Successfully prepared a release-ready APK build, published to GitHub, ready for deployment across industrial client sites.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433214"/>
            <a:ext cx="23812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72072"/>
            <a:ext cx="33337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775769"/>
            <a:ext cx="33337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5114627"/>
            <a:ext cx="3048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28327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F172A"/>
                </a:solidFill>
                <a:latin typeface="Poppins SemiBold"/>
              </a:rPr>
              <a:t>Expected Outcomes &amp; Learnings</a:t>
            </a:r>
          </a:p>
        </p:txBody>
      </p:sp>
      <p:pic>
        <p:nvPicPr>
          <p:cNvPr id="14" name="Picture 13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09CEDB79-3B90-1776-94A4-D483B6D64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9018" y="203621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83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275" y="4289077"/>
            <a:ext cx="3981450" cy="9620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821209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E3A8A"/>
                </a:solidFill>
                <a:latin typeface="Poppi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202334"/>
            <a:ext cx="11049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475569"/>
                </a:solidFill>
                <a:latin typeface="Lato"/>
              </a:rPr>
              <a:t>I am open to any questions or feedback regarding the </a:t>
            </a:r>
            <a:r>
              <a:rPr sz="1950" b="1" i="0" u="none">
                <a:solidFill>
                  <a:srgbClr val="475569"/>
                </a:solidFill>
                <a:latin typeface="Lato"/>
              </a:rPr>
              <a:t>Ambrosia</a:t>
            </a:r>
            <a:r>
              <a:rPr sz="1950" b="0" i="0" u="none">
                <a:solidFill>
                  <a:srgbClr val="475569"/>
                </a:solidFill>
                <a:latin typeface="Lato"/>
              </a:rPr>
              <a:t>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7775" y="4474815"/>
            <a:ext cx="20764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F172A"/>
                </a:solidFill>
                <a:latin typeface="Poppins"/>
              </a:rPr>
              <a:t>Raghvendra Kumar</a:t>
            </a:r>
          </a:p>
        </p:txBody>
      </p:sp>
      <p:pic>
        <p:nvPicPr>
          <p:cNvPr id="8" name="Picture 7" descr="The image depicts a university crest featuring a classical Greek-style building, a torch, and a swan, all within a blue shield.&#10;&#10;AI-generated content may be incorrect.">
            <a:extLst>
              <a:ext uri="{FF2B5EF4-FFF2-40B4-BE49-F238E27FC236}">
                <a16:creationId xmlns:a16="http://schemas.microsoft.com/office/drawing/2014/main" id="{6D666957-CDA5-9A01-D62E-FB900AA65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1720" y="142875"/>
            <a:ext cx="495005" cy="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1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0F07B8-87D4-438E-88A9-4E3D2A0DA7DE}">
  <we:reference id="wa200010473" version="1.0.0.4" store="en-US" storeType="OMEX"/>
  <we:alternateReferences>
    <we:reference id="WA200010473" version="1.0.0.4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692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Lato</vt:lpstr>
      <vt:lpstr>Lato Medium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Raghvendra kumar</cp:lastModifiedBy>
  <cp:revision>6</cp:revision>
  <dcterms:created xsi:type="dcterms:W3CDTF">2013-01-27T09:14:16Z</dcterms:created>
  <dcterms:modified xsi:type="dcterms:W3CDTF">2026-09-10T17:48:15Z</dcterms:modified>
  <cp:category/>
</cp:coreProperties>
</file>